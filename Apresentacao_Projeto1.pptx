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do Projeto 1. Objetivo: projetar e avaliar experimentalmente dois agentes (reativo simples e baseado em modelo) no ambiente do aspirador de pó, determinístico e parcialmente observável.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ambiente é o aspirador de pó clássico. O agente só enxerga a célula onde está (sujo/limpo) e sente colisões. Não conhece o mapa nem onde está a sujeira. É determinístico e parcialmente observável.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ambiente é totalmente configurável: tamanho, taxa de sujeira e taxa de obstáculos. Um cuidado importante: obstáculos nunca isolam células (garantimos conectividade por busca), então todo episódio é solucionável. A legenda mostra a renderização em 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medidas do enunciado. A Medida 1 só olha o resultado (casas limpas por período). A Medida 2 desconta cada movimento, então mede eficiência. É nessa segunda medida que a diferença entre os agentes fica evidente.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reativo simples é o agente-reflexo do livro: mapeia percepção em ação sem estado interno. Aspira se sujo, desvia se bateu, e caminha aleatoriamente. Simples e robusto, mas ineficiente por não lembrar de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agente baseado em modelo guarda um mapa mental: posição, visitadas, paredes e limpas. A decisão combina regra (aspirar se sujo) com planejamento por busca em largura até a fronteira inexplorada. Quando termina, fica parado (NO_OP) para não perder pontos na Medida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prática: o reativo anda a esmo e pode não terminar; o baseado em modelo varre o ambiente metodicamente, contorna obstáculos e para quando acaba. Essa diferença de comportamento explica os números a seguir.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Metodologia: fixamos o tamanho e rodamos 50 configurações variando sujeira, obstáculos e posição inicial. Ambos os agentes recebem as mesmas configurações para uma comparação justa. Cada episódio dura T=200 períodos, o que torna a Medida 1 comparável. Também variamos o tamanho (5 a 15) para testar escalabilidade.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Números-chave: as duas medidas favorecem o baseado em modelo, mas a diferença explode na Medida 2 e nos movimentos — ele gasta 3,7 vezes menos movimentos. E limpa 100% das configurações, contra 84% do reativo.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esquerda, as médias das duas medidas: próximas, porque ambos os agentes acabam limpando. À direita, o esforço: o reativo faz quase 4x mais movimentos, o que derruba sua Medida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da esquerda é o mais revelador: episódio a episódio, o modelo (azul) é sempre superior e estável, enquanto o reativo (vermelho) varia muito. À direita, mostramos que a vantagem persiste ao aumentar o tabuleiro.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Conclusão do ponto de vista da racionalidade: um agente é racional se atinge o objetivo maximizando a medida de desempenho. O baseado em modelo é claramente mais racional, sobretudo sob a Medida 2 e em ambientes maiores. O reativo é mais simples, porém ineficiente. Fim —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005840"/>
            <a:ext cx="3291840" cy="329184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754880"/>
            <a:ext cx="2560320" cy="2560320"/>
          </a:xfrm>
          <a:prstGeom prst="ellipse">
            <a:avLst/>
          </a:prstGeom>
          <a:solidFill>
            <a:srgbClr val="01BAA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1B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1 · INTELIGÊNCIA ARTIFICIAL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Experimental de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Inteligentes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aspirador de pó: Reativo Simples  vs.  Baseado em Modelo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4572000"/>
            <a:ext cx="2926080" cy="0"/>
          </a:xfrm>
          <a:prstGeom prst="line">
            <a:avLst/>
          </a:prstGeom>
          <a:noFill/>
          <a:ln w="31750">
            <a:solidFill>
              <a:srgbClr val="01BAA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determinístico e parcialmente observável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[Seu nome]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1B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ambiente de tarefas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robô aspirador deve limpar toda a sujeira de um ambiente que ele NÃO conhece de antemão. Percebe o mundo apenas localmente.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50008"/>
            <a:ext cx="457200" cy="457200"/>
          </a:xfrm>
          <a:prstGeom prst="ellipse">
            <a:avLst/>
          </a:prstGeom>
          <a:solidFill>
            <a:srgbClr val="01BAA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54480" y="23134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29260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Percepção LOCAL: a casa atual está suja? bati numa parede/obstáculo?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0574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350008"/>
            <a:ext cx="457200" cy="4572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0" y="23134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Atuadores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9260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(cima, baixo, esquerda, direita) e Aspirar.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636008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54480" y="45994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Desconhecido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52120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inicial de sujeira e a geografia: extensão, limites e obstáculos.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43434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4636008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23760" y="45994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Natureza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521208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Determinístico (ações têm efeito previsível) e parcialmente observável.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1B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 implementado — tabuleiro maleável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007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Tamanho configurável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057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N×M definida pelo usuário (5×5, 8×8, 10×10, 15×15…).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136392"/>
            <a:ext cx="502920" cy="50292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0083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Obstáculos internos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3649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Paredes distribuídas aleatoriamente que o agente só descobre ao colidir.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69664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443984"/>
            <a:ext cx="502920" cy="50292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315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Conectividade garantida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6725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obstáculo só é criado se NÃO isolar nenhuma célula — evita ambientes impossíveis.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477256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751576"/>
            <a:ext cx="502920" cy="50292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5751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623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Sujeira parametrizável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59801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sujeira (padrão 20%) sorteada apenas em células alcançáveis.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92240" y="155448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0F1B2E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675120" y="16916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1B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do ambiente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21488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E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y=4 | [ .] [ *] [ .] [ *] [ .]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E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y=3 | [ .] [##] [ .] [ .] [ *]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E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y=2 | [ *] [ .] [##] [ .] [ .]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E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y=1 | [ .] [ .] [ .] [ *] [##]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E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y=0 | [ R] [ .] [ *] [ .] [ .]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DE7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x=0  x=1  x=2  x=3  x=4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5029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B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</a:t>
            </a:r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robô   </a:t>
            </a:r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</a:t>
            </a:r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sujeira   </a:t>
            </a:r>
            <a:pPr indent="0" marL="0">
              <a:buNone/>
            </a:pPr>
            <a:r>
              <a:rPr lang="en-US" sz="13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</a:t>
            </a:r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1B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MEDIMOS O SUCESSO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medidas de desempenho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331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 por casa limpa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cada período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5661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 manter o ambiente limpo ao longo do tempo. Premia quem termina a limpeza rápido (mais períodos com tudo limpo).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 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317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 por casa limpa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 por movimento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5661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 o esforço: cada deslocamento custa. Revela a EFICIÊNCIA do agente — mover à toa reduz a pontuação.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1B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Reativo Simples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apenas com a percepção IMEDIATA. Não tem memória nem modelo do mundo — puras regras condição→ação.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6583680" cy="4023360"/>
          </a:xfrm>
          <a:prstGeom prst="roundRect">
            <a:avLst>
              <a:gd name="adj" fmla="val 2273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condição → ação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casa está suja  →  ASPIRAR.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bateu numa parede/obstáculo  →  mudar de direção.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SENÃO  →  seguir na direção atual (com 25% de chance de virar).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0" y="1965960"/>
            <a:ext cx="4023360" cy="4023360"/>
          </a:xfrm>
          <a:prstGeom prst="roundRect">
            <a:avLst>
              <a:gd name="adj" fmla="val 2273"/>
            </a:avLst>
          </a:prstGeom>
          <a:solidFill>
            <a:srgbClr val="1B2A4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266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1B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Característica-chave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606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MEMÓRIA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726680" y="33832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 onde já esteve nem onde há sujeira. Explora de forma essencialmente aleatória — pode revisitar casas limpas muitas vezes.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1B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Baseado em Modelo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um ESTADO INTERNO (modelo do mundo) e planeja. A cada passo executa UPDATE-STATE e decide de forma sistemática.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interno mantido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517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estimada no plano cartesiano.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já visitadas.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Paredes / obstáculos detectados por colisão.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já limpas.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1965960"/>
            <a:ext cx="5303520" cy="4023360"/>
          </a:xfrm>
          <a:prstGeom prst="roundRect">
            <a:avLst>
              <a:gd name="adj" fmla="val 2273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92240" y="21488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Tomada de decisão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6517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o modelo com a última ação + percepção.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sujo → ASPIRAR.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SENÃO → planeja por BFS o caminho mais curto até a fronteira desconhecida mais próxima.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explorado e limpo → NO_OP (para de gastar movimento).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1B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OBSERVADO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cada agente se comporta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457200" cy="45720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0200" y="2029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Reativo Simples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4320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Vagueia aleatoriamente pelo ambiente.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da sorte para cobrir todas as casas.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Revisita casas limpas repetidamente.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sempre limpa tudo no tempo de vida.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1206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205740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78040" y="2029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Baseado em Modelo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74320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 de forma sistemática e sem repetir.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Contorna obstáculos usando o mapa aprendido.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 todo o ambiente de forma consistente.</a:t>
            </a:r>
            <a:endParaRPr lang="en-US" sz="14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quando termina, economizando movimentos.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1B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Metodologia experimental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do ambiente FIXO. Cada agente é executado em várias configurações iniciais (sujeira, obstáculos e posição). Registram-se a pontuação de cada configuração e a MÉDIA GLOBAL.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24048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278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aleatórias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566160" y="21488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66160" y="24048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1BA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5×5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32278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base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(também 8, 10, 15)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21488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0" y="24048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200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2278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períodos por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episódio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235440" y="214884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35440" y="24048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372600" y="32278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por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4343400"/>
            <a:ext cx="10744200" cy="1600200"/>
          </a:xfrm>
          <a:prstGeom prst="roundRect">
            <a:avLst>
              <a:gd name="adj" fmla="val 5714"/>
            </a:avLst>
          </a:prstGeom>
          <a:solidFill>
            <a:srgbClr val="F4F7F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0584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justa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892040"/>
            <a:ext cx="10195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agentes enfrentam EXATAMENTE as mesmas configurações (mesma semente por configuração). O tempo de vida fixo (T períodos) torna a Medida 1 comparável entre eles.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1B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Médias globais (50 configurações, 5×5)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91640"/>
          <a:ext cx="1074420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1572768"/>
                <a:gridCol w="1572768"/>
                <a:gridCol w="1572768"/>
                <a:gridCol w="1572768"/>
                <a:gridCol w="157276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Medida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Medida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Movimentos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Aspiradas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Limpou tudo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D95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Reativo Simples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4395,9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4199,7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196,2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Baseado em Modelo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4509,6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4456,7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1BA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1BAA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97764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914400" y="41605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A90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3,7×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5029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movimentos que o reativo (52,9 vs 196,2) para o mesmo trabalho.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72200" y="3977640"/>
            <a:ext cx="53035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76200" dist="25400" dir="5400000">
              <a:srgbClr val="9AA5B1">
                <a:alpha val="2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55080" y="41605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BA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vs 84%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5029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configurações totalmente limpas dentro do tempo de vida.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1B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COMPARATIVOS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Desempenho e esforço</a:t>
            </a:r>
            <a:endParaRPr lang="en-US" sz="3200" dirty="0"/>
          </a:p>
        </p:txBody>
      </p:sp>
      <p:pic>
        <p:nvPicPr>
          <p:cNvPr id="4" name="Image 0" descr="C:\Users\fabio\OneDrive\Desktop\tran ic\trab_IC\resultados\grafico_med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5577840" cy="3483864"/>
          </a:xfrm>
          <a:prstGeom prst="rect">
            <a:avLst/>
          </a:prstGeom>
        </p:spPr>
      </p:pic>
      <p:pic>
        <p:nvPicPr>
          <p:cNvPr id="5" name="Image 1" descr="C:\Users\fabio\OneDrive\Desktop\tran ic\trab_IC\resultados\grafico_esfor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577840" cy="34838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médias, os dois vão bem (ambos limpam); na Medida 2 e nos movimentos o modelo se destaca: ~53 vs ~196 movimentos por episódio.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1B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COMPARATIVOS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Consistência e escalabilidade</a:t>
            </a:r>
            <a:endParaRPr lang="en-US" sz="3200" dirty="0"/>
          </a:p>
        </p:txBody>
      </p:sp>
      <p:pic>
        <p:nvPicPr>
          <p:cNvPr id="4" name="Image 0" descr="C:\Users\fabio\OneDrive\Desktop\tran ic\trab_IC\resultados\grafico_por_configur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6400800" cy="3200400"/>
          </a:xfrm>
          <a:prstGeom prst="rect">
            <a:avLst/>
          </a:prstGeom>
        </p:spPr>
      </p:pic>
      <p:pic>
        <p:nvPicPr>
          <p:cNvPr id="5" name="Image 1" descr="C:\Users\fabio\OneDrive\Desktop\tran ic\trab_IC\resultados\grafico_por_tamanh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828800"/>
            <a:ext cx="4480560" cy="171907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48920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Variabilidade: a linha azul (modelo) fica sempre acima e é muito mais estável; a vermelha (reativo) oscila conforme a sorte da configuração.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7223760" y="370332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Escalabilidade: a vantagem do modelo se mantém à medida que o tabuleiro cresce (5×5 → 15×15).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914400"/>
            <a:ext cx="2743200" cy="2743200"/>
          </a:xfrm>
          <a:prstGeom prst="ellipse">
            <a:avLst/>
          </a:prstGeom>
          <a:solidFill>
            <a:srgbClr val="01BAA2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1B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RACIONALIDADE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05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10424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interno paga: lembrar do que já visitou permite ao agente baseado em modelo agir de forma racional — atingir o objetivo com esforço mínimo.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Medida 1 (só resultado) os dois são parecidos; na Medida 2 (com custo) a racionalidade do modelo aparece com clareza.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reativo simples é robusto e barato de implementar, mas sua exploração aleatória o torna ineficiente e inconsistente.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vantagem do modelo cresce em ambientes maiores e com obstáculos, onde vaguear ao acaso custa cada vez mais caro.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2026-09-28T19:21:37Z</dcterms:created>
  <dcterms:modified xsi:type="dcterms:W3CDTF">2026-09-28T19:21:37Z</dcterms:modified>
</cp:coreProperties>
</file>